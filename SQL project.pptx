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4" r:id="rId1"/>
  </p:sldMasterIdLst>
  <p:notesMasterIdLst>
    <p:notesMasterId r:id="rId18"/>
  </p:notesMasterIdLst>
  <p:handoutMasterIdLst>
    <p:handoutMasterId r:id="rId19"/>
  </p:handoutMasterIdLst>
  <p:sldIdLst>
    <p:sldId id="268" r:id="rId2"/>
    <p:sldId id="269" r:id="rId3"/>
    <p:sldId id="270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2" r:id="rId12"/>
    <p:sldId id="280" r:id="rId13"/>
    <p:sldId id="281" r:id="rId14"/>
    <p:sldId id="283" r:id="rId15"/>
    <p:sldId id="284" r:id="rId16"/>
    <p:sldId id="285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384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pos="959">
          <p15:clr>
            <a:srgbClr val="A4A3A4"/>
          </p15:clr>
        </p15:guide>
        <p15:guide id="5" pos="67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590" y="62"/>
      </p:cViewPr>
      <p:guideLst>
        <p:guide orient="horz" pos="2160"/>
        <p:guide orient="horz" pos="384"/>
        <p:guide orient="horz" pos="3792"/>
        <p:guide pos="959"/>
        <p:guide pos="671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2538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74EB7-856E-45FD-83F0-5F7C6F3E4372}" type="datetimeFigureOut">
              <a:rPr lang="en-US"/>
              <a:t>18-May-26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86E15-F82A-4596-A46C-375C6D3981E1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8308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0E40-8125-41F8-BB6C-139D8D531A4F}" type="datetimeFigureOut">
              <a:rPr lang="en-US"/>
              <a:t>18-May-26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05DB2-FD3E-441D-8B7E-7AE83ECE27B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472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276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600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443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489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345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315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02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744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217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block"/>
          <p:cNvSpPr/>
          <p:nvPr/>
        </p:nvSpPr>
        <p:spPr bwMode="invGray">
          <a:xfrm>
            <a:off x="1141413" y="1600200"/>
            <a:ext cx="11047412" cy="3276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7" name="top graphic"/>
          <p:cNvGrpSpPr/>
          <p:nvPr/>
        </p:nvGrpSpPr>
        <p:grpSpPr>
          <a:xfrm>
            <a:off x="1279" y="0"/>
            <a:ext cx="12188952" cy="429768"/>
            <a:chOff x="1279" y="0"/>
            <a:chExt cx="12188952" cy="429768"/>
          </a:xfrm>
        </p:grpSpPr>
        <p:sp>
          <p:nvSpPr>
            <p:cNvPr id="8" name="Rectangle 7"/>
            <p:cNvSpPr/>
            <p:nvPr/>
          </p:nvSpPr>
          <p:spPr>
            <a:xfrm>
              <a:off x="1279" y="0"/>
              <a:ext cx="12188952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228600"/>
              <a:ext cx="12188952" cy="2011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79" y="306324"/>
              <a:ext cx="12188952" cy="45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grpSp>
        <p:nvGrpSpPr>
          <p:cNvPr id="23" name="bottom graphic"/>
          <p:cNvGrpSpPr/>
          <p:nvPr/>
        </p:nvGrpSpPr>
        <p:grpSpPr>
          <a:xfrm>
            <a:off x="0" y="6080760"/>
            <a:ext cx="12190231" cy="777240"/>
            <a:chOff x="0" y="6080760"/>
            <a:chExt cx="12190231" cy="777240"/>
          </a:xfrm>
        </p:grpSpPr>
        <p:sp>
          <p:nvSpPr>
            <p:cNvPr id="13" name="Rectangle 12"/>
            <p:cNvSpPr/>
            <p:nvPr/>
          </p:nvSpPr>
          <p:spPr>
            <a:xfrm>
              <a:off x="0" y="6217920"/>
              <a:ext cx="12188825" cy="6400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79" y="60807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79" y="6172200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invGray">
          <a:xfrm>
            <a:off x="1522414" y="1905000"/>
            <a:ext cx="9143998" cy="2667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bg1"/>
                </a:solidFill>
                <a:effectLst>
                  <a:outerShdw blurRad="88900" algn="c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029200"/>
            <a:ext cx="8229598" cy="838200"/>
          </a:xfr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76B7-5811-4114-8A95-998148FFD529}" type="datetime1">
              <a:rPr lang="en-US" smtClean="0"/>
              <a:t>18-May-26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16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180A9-7A83-412D-A8AC-5AF60A8AA507}" type="datetime1">
              <a:rPr lang="en-US" smtClean="0"/>
              <a:t>18-May-26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59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4876800"/>
            <a:ext cx="8229598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563DF0-FDDF-4143-9D8C-6AF41892E174}" type="datetime1">
              <a:rPr lang="en-US" smtClean="0"/>
              <a:t>18-May-26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10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849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83F9-4677-4C31-8407-7919061A580B}" type="datetime1">
              <a:rPr lang="en-US" smtClean="0"/>
              <a:t>18-May-26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25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6814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6814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939A6-3450-434F-A872-BEE63F7EB093}" type="datetime1">
              <a:rPr lang="en-US" smtClean="0"/>
              <a:t>18-May-26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70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BB1C-FA00-4171-BA31-4C5E719472F3}" type="datetime1">
              <a:rPr lang="en-US" smtClean="0"/>
              <a:t>18-May-26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31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ottom graphic"/>
          <p:cNvGrpSpPr/>
          <p:nvPr userDrawn="1"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8610-5B57-4C6B-BF9F-F5397A1F60B8}" type="datetime1">
              <a:rPr lang="en-US" smtClean="0"/>
              <a:t>18-May-26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3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1930" y="1293495"/>
            <a:ext cx="5577840" cy="40233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69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F3DD-8B6D-46AA-BCA9-242D4EF63DDF}" type="datetime1">
              <a:rPr lang="en-US" smtClean="0"/>
              <a:t>18-May-26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13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400490" y="1202055"/>
            <a:ext cx="5760720" cy="4206240"/>
          </a:xfrm>
          <a:solidFill>
            <a:schemeClr val="bg1">
              <a:lumMod val="95000"/>
            </a:schemeClr>
          </a:solidFill>
        </p:spPr>
        <p:txBody>
          <a:bodyPr tIns="914400">
            <a:norm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71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41AE9-3D4A-4A08-B03D-DC6D2ADF5464}" type="datetime1">
              <a:rPr lang="en-US" smtClean="0"/>
              <a:t>18-May-26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6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C077A-EF7A-41AA-8976-110EB7416C60}" type="datetime1">
              <a:rPr lang="en-US" smtClean="0"/>
              <a:t>18-May-26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79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94507" y="609600"/>
            <a:ext cx="1143001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3" y="609600"/>
            <a:ext cx="7696198" cy="5410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5912B-6681-4BDF-AE10-F59636249FF3}" type="datetime1">
              <a:rPr lang="en-US" smtClean="0"/>
              <a:t>18-May-26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1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C8E22-D0BA-4CB4-9C32-B27533199514}" type="datetime1">
              <a:rPr lang="en-US" smtClean="0"/>
              <a:t>18-May-26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647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bottom graphic"/>
          <p:cNvGrpSpPr/>
          <p:nvPr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grpSp>
        <p:nvGrpSpPr>
          <p:cNvPr id="10" name="top graphic"/>
          <p:cNvGrpSpPr/>
          <p:nvPr/>
        </p:nvGrpSpPr>
        <p:grpSpPr>
          <a:xfrm>
            <a:off x="1279" y="0"/>
            <a:ext cx="12188952" cy="320040"/>
            <a:chOff x="1279" y="0"/>
            <a:chExt cx="12188952" cy="320040"/>
          </a:xfrm>
        </p:grpSpPr>
        <p:sp>
          <p:nvSpPr>
            <p:cNvPr id="11" name="Rectangle 10"/>
            <p:cNvSpPr/>
            <p:nvPr/>
          </p:nvSpPr>
          <p:spPr>
            <a:xfrm>
              <a:off x="1279" y="0"/>
              <a:ext cx="12188952" cy="17023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79" y="170234"/>
              <a:ext cx="12188952" cy="14980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79" y="231421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76" y="1905000"/>
            <a:ext cx="9143538" cy="3697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507498" y="6516865"/>
            <a:ext cx="606214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994363" y="6516865"/>
            <a:ext cx="132762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5C6E67D0-0200-42BE-A0B2-78C70FBBB312}" type="datetime1">
              <a:rPr lang="en-US" smtClean="0"/>
              <a:pPr/>
              <a:t>18-May-26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730094" y="6516865"/>
            <a:ext cx="93631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681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14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100000"/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Performance Analysis and Match Insights: T20 World Cup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970212" y="5029200"/>
            <a:ext cx="8991599" cy="838200"/>
          </a:xfrm>
        </p:spPr>
        <p:txBody>
          <a:bodyPr/>
          <a:lstStyle/>
          <a:p>
            <a:r>
              <a:rPr lang="en-US" dirty="0"/>
              <a:t>                                                                                       :-  </a:t>
            </a:r>
            <a:r>
              <a:rPr lang="en-US" u="sng" dirty="0"/>
              <a:t>POTHINENI NAVEEN</a:t>
            </a:r>
          </a:p>
        </p:txBody>
      </p:sp>
    </p:spTree>
    <p:extLst>
      <p:ext uri="{BB962C8B-B14F-4D97-AF65-F5344CB8AC3E}">
        <p14:creationId xmlns:p14="http://schemas.microsoft.com/office/powerpoint/2010/main" val="295718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1.Performance Analysis of Teams.</a:t>
            </a:r>
          </a:p>
          <a:p>
            <a:pPr marL="0" indent="0">
              <a:buNone/>
            </a:pPr>
            <a:r>
              <a:rPr lang="en-US" dirty="0"/>
              <a:t>2. Player Performance Evaluation.</a:t>
            </a:r>
          </a:p>
          <a:p>
            <a:pPr marL="0" indent="0">
              <a:buNone/>
            </a:pPr>
            <a:r>
              <a:rPr lang="en-US" dirty="0"/>
              <a:t>3. Match Outcome Insights.</a:t>
            </a:r>
          </a:p>
          <a:p>
            <a:pPr marL="0" indent="0">
              <a:buNone/>
            </a:pPr>
            <a:r>
              <a:rPr lang="en-US" dirty="0"/>
              <a:t>4. Over-wise Run Analysis.</a:t>
            </a:r>
          </a:p>
          <a:p>
            <a:pPr marL="0" indent="0">
              <a:buNone/>
            </a:pPr>
            <a:r>
              <a:rPr lang="en-US" dirty="0"/>
              <a:t>5. Venue-Based Analysis.</a:t>
            </a:r>
          </a:p>
          <a:p>
            <a:pPr marL="0" indent="0">
              <a:buNone/>
            </a:pPr>
            <a:r>
              <a:rPr lang="en-US" dirty="0"/>
              <a:t>6. Visualization &amp; Reporting. </a:t>
            </a:r>
          </a:p>
        </p:txBody>
      </p:sp>
    </p:spTree>
    <p:extLst>
      <p:ext uri="{BB962C8B-B14F-4D97-AF65-F5344CB8AC3E}">
        <p14:creationId xmlns:p14="http://schemas.microsoft.com/office/powerpoint/2010/main" val="314811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Description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project analyzes data from the </a:t>
            </a:r>
            <a:r>
              <a:rPr lang="en-US" b="1" dirty="0"/>
              <a:t>ICC Men's T20 World Cup 2026 </a:t>
            </a:r>
            <a:r>
              <a:rPr lang="en-US" dirty="0"/>
              <a:t>to understand how teams and players perform during matches. The goal is to turn raw match data into useful insights that help explain:</a:t>
            </a:r>
          </a:p>
          <a:p>
            <a:pPr marL="0" indent="0">
              <a:buNone/>
            </a:pPr>
            <a:r>
              <a:rPr lang="en-US" dirty="0"/>
              <a:t>              Which teams are performing well</a:t>
            </a:r>
          </a:p>
          <a:p>
            <a:pPr marL="0" indent="0">
              <a:buNone/>
            </a:pPr>
            <a:r>
              <a:rPr lang="en-US" dirty="0"/>
              <a:t>              Which players are making the biggest impact</a:t>
            </a:r>
          </a:p>
          <a:p>
            <a:pPr marL="0" indent="0">
              <a:buNone/>
            </a:pPr>
            <a:r>
              <a:rPr lang="en-US" dirty="0"/>
              <a:t>              What factors influence match outcomes</a:t>
            </a:r>
          </a:p>
          <a:p>
            <a:pPr marL="0" indent="0">
              <a:buNone/>
            </a:pPr>
            <a:r>
              <a:rPr lang="en-US" dirty="0"/>
              <a:t>              Use following slides for discussing status, schedules, budget, etc.</a:t>
            </a:r>
          </a:p>
        </p:txBody>
      </p:sp>
      <p:sp>
        <p:nvSpPr>
          <p:cNvPr id="4" name="Text Placeholder 7"/>
          <p:cNvSpPr txBox="1">
            <a:spLocks/>
          </p:cNvSpPr>
          <p:nvPr/>
        </p:nvSpPr>
        <p:spPr>
          <a:xfrm>
            <a:off x="1539575" y="5715000"/>
            <a:ext cx="9126838" cy="5334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9436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091194E-745F-4320-A767-A9718E228A2B}"/>
              </a:ext>
            </a:extLst>
          </p:cNvPr>
          <p:cNvSpPr/>
          <p:nvPr/>
        </p:nvSpPr>
        <p:spPr>
          <a:xfrm>
            <a:off x="1979612" y="3200400"/>
            <a:ext cx="457200" cy="228600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27209DB-CB81-42BD-B5A7-E08A8F7C0C05}"/>
              </a:ext>
            </a:extLst>
          </p:cNvPr>
          <p:cNvSpPr/>
          <p:nvPr/>
        </p:nvSpPr>
        <p:spPr>
          <a:xfrm>
            <a:off x="2000436" y="3753732"/>
            <a:ext cx="457200" cy="228600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D26E8BB-7276-4315-A2D4-6D6A6A2EBADE}"/>
              </a:ext>
            </a:extLst>
          </p:cNvPr>
          <p:cNvSpPr/>
          <p:nvPr/>
        </p:nvSpPr>
        <p:spPr>
          <a:xfrm>
            <a:off x="1979612" y="4287132"/>
            <a:ext cx="457200" cy="228600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A98B17B-85D6-46E9-BF68-6769A4AABAE1}"/>
              </a:ext>
            </a:extLst>
          </p:cNvPr>
          <p:cNvSpPr/>
          <p:nvPr/>
        </p:nvSpPr>
        <p:spPr>
          <a:xfrm>
            <a:off x="2000436" y="4840464"/>
            <a:ext cx="457200" cy="228600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15296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2643" y="609600"/>
            <a:ext cx="9143538" cy="1066800"/>
          </a:xfrm>
        </p:spPr>
        <p:txBody>
          <a:bodyPr/>
          <a:lstStyle/>
          <a:p>
            <a:r>
              <a:rPr lang="en-US" b="1" u="sng" dirty="0"/>
              <a:t>Technology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1.SQL (Structured Query Language)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Used to analyze and extract insights from data </a:t>
            </a:r>
          </a:p>
          <a:p>
            <a:pPr marL="0" indent="0">
              <a:buNone/>
            </a:pPr>
            <a:r>
              <a:rPr lang="en-US" dirty="0"/>
              <a:t>2.Power BI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sz="1800" dirty="0"/>
              <a:t>Used to create visual dashboards</a:t>
            </a:r>
          </a:p>
          <a:p>
            <a:pPr marL="0" indent="0">
              <a:buNone/>
            </a:pPr>
            <a:r>
              <a:rPr lang="en-US" sz="1800" dirty="0"/>
              <a:t>3.</a:t>
            </a:r>
            <a:r>
              <a:rPr lang="en-US" dirty="0"/>
              <a:t>Data Source (Kaggle Dataset)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Provides real-world cricket match data 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01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Data Cleaning &amp; Preparation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2876" y="1905001"/>
            <a:ext cx="9143538" cy="2209800"/>
          </a:xfrm>
        </p:spPr>
        <p:txBody>
          <a:bodyPr/>
          <a:lstStyle/>
          <a:p>
            <a:r>
              <a:rPr lang="en-US" dirty="0"/>
              <a:t>1. Handling Missing Values</a:t>
            </a:r>
          </a:p>
          <a:p>
            <a:r>
              <a:rPr lang="en-US" dirty="0"/>
              <a:t>2. Removing Duplicates</a:t>
            </a:r>
          </a:p>
          <a:p>
            <a:r>
              <a:rPr lang="en-US" dirty="0"/>
              <a:t>3. Fixing Inconsistent Names</a:t>
            </a:r>
          </a:p>
          <a:p>
            <a:r>
              <a:rPr lang="en-US" dirty="0"/>
              <a:t>4. Data Type Correction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177927-3CAE-47B2-868A-0B95C052FC51}"/>
              </a:ext>
            </a:extLst>
          </p:cNvPr>
          <p:cNvSpPr/>
          <p:nvPr/>
        </p:nvSpPr>
        <p:spPr>
          <a:xfrm>
            <a:off x="1522411" y="4114801"/>
            <a:ext cx="9715500" cy="16763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        In this project, ICC MEN’S WORLD  dataset  was carefully cleaned and prepared before performing any analysis. Missing values were handled, duplicate records were removed, and team/player names were  standardized to ensure consistency.</a:t>
            </a:r>
          </a:p>
          <a:p>
            <a:pPr algn="ctr"/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69DCC1F-BD97-4B39-A608-6767DC83FDFD}"/>
              </a:ext>
            </a:extLst>
          </p:cNvPr>
          <p:cNvSpPr/>
          <p:nvPr/>
        </p:nvSpPr>
        <p:spPr>
          <a:xfrm>
            <a:off x="1827212" y="4495800"/>
            <a:ext cx="381000" cy="152400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51538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2876" y="609600"/>
            <a:ext cx="4266736" cy="1066800"/>
          </a:xfrm>
        </p:spPr>
        <p:txBody>
          <a:bodyPr/>
          <a:lstStyle/>
          <a:p>
            <a:r>
              <a:rPr lang="en-US" b="1" u="sng" dirty="0"/>
              <a:t>Total Participating </a:t>
            </a:r>
            <a:br>
              <a:rPr lang="en-US" b="1" u="sng" dirty="0"/>
            </a:br>
            <a:r>
              <a:rPr lang="en-US" b="1" u="sng" dirty="0"/>
              <a:t> Teams in World cup:-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7BEF6F-EDA0-46A3-9F4F-2C1BDD725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1413" y="1905000"/>
            <a:ext cx="4191000" cy="1981200"/>
          </a:xfrm>
        </p:spPr>
      </p:pic>
      <p:sp>
        <p:nvSpPr>
          <p:cNvPr id="4" name="Text Placeholder 7"/>
          <p:cNvSpPr txBox="1">
            <a:spLocks/>
          </p:cNvSpPr>
          <p:nvPr/>
        </p:nvSpPr>
        <p:spPr>
          <a:xfrm>
            <a:off x="1539575" y="5943600"/>
            <a:ext cx="9126838" cy="304800"/>
          </a:xfrm>
          <a:prstGeom prst="rect">
            <a:avLst/>
          </a:prstGeom>
        </p:spPr>
        <p:txBody>
          <a:bodyPr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9436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4AF156-AF8A-426C-8E15-42CF59DFA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876" y="4114800"/>
            <a:ext cx="3733336" cy="9906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CA5AC8-CB61-4910-A1AF-03A452541F14}"/>
              </a:ext>
            </a:extLst>
          </p:cNvPr>
          <p:cNvSpPr txBox="1"/>
          <p:nvPr/>
        </p:nvSpPr>
        <p:spPr>
          <a:xfrm flipH="1">
            <a:off x="5942012" y="1076980"/>
            <a:ext cx="4572001" cy="523220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800" b="1" u="sng" dirty="0"/>
              <a:t>Total venues:-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CF1D6E-519B-4F12-889B-E70E32F60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013" y="1981200"/>
            <a:ext cx="5486400" cy="1066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FCE601-8898-44FF-824E-CEE4524A0B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1612" y="3638539"/>
            <a:ext cx="3048000" cy="131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74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98504" y="26894"/>
            <a:ext cx="4266736" cy="1066800"/>
          </a:xfrm>
        </p:spPr>
        <p:txBody>
          <a:bodyPr/>
          <a:lstStyle/>
          <a:p>
            <a:r>
              <a:rPr lang="en-US" b="1" u="sng" dirty="0"/>
              <a:t>Most Successful Team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073A961-542D-4C11-9627-222961FF19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7137" y="2819400"/>
            <a:ext cx="4515480" cy="3144884"/>
          </a:xfrm>
        </p:spPr>
      </p:pic>
      <p:sp>
        <p:nvSpPr>
          <p:cNvPr id="4" name="Text Placeholder 7"/>
          <p:cNvSpPr txBox="1">
            <a:spLocks/>
          </p:cNvSpPr>
          <p:nvPr/>
        </p:nvSpPr>
        <p:spPr>
          <a:xfrm>
            <a:off x="1539575" y="5715000"/>
            <a:ext cx="9126838" cy="5334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9436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0216F2-0B54-4BAE-B594-56FBF8FE2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732" y="1143000"/>
            <a:ext cx="4515480" cy="1533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212A27-11DE-41A2-88AB-E28EDF4787DD}"/>
              </a:ext>
            </a:extLst>
          </p:cNvPr>
          <p:cNvSpPr txBox="1"/>
          <p:nvPr/>
        </p:nvSpPr>
        <p:spPr>
          <a:xfrm>
            <a:off x="7342505" y="2411453"/>
            <a:ext cx="45719" cy="369332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 anchor="ctr" anchorCtr="1">
            <a:spAutoFit/>
          </a:bodyPr>
          <a:lstStyle/>
          <a:p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7F7C7BF-EE8F-4DC3-968D-4040BF41A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612" y="660182"/>
            <a:ext cx="460248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Venue-wise Match 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391F16B-EDD2-48B7-B890-AF829853A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267" y="1219200"/>
            <a:ext cx="5263145" cy="14876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2458BE-BD6C-4BB8-B992-21A754929A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147" y="2895600"/>
            <a:ext cx="4623065" cy="314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3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2643" y="310745"/>
            <a:ext cx="9143538" cy="1066800"/>
          </a:xfrm>
        </p:spPr>
        <p:txBody>
          <a:bodyPr/>
          <a:lstStyle/>
          <a:p>
            <a:r>
              <a:rPr lang="en-US" b="1" u="sng" dirty="0"/>
              <a:t>Venue located country and capacity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923323-6C9A-45BE-972C-DA8535A6E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7612" y="3759230"/>
            <a:ext cx="7543800" cy="17526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F81849-095E-4DE9-A641-B17FDDC32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7812" y="1522490"/>
            <a:ext cx="3581400" cy="205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1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Bat First VS Chase First,  wins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1088D7-D275-4936-A081-1AFD5AE04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51012" y="1752600"/>
            <a:ext cx="4499250" cy="1905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B4908C-BB22-4FA5-A60B-32EAB340B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612" y="3962400"/>
            <a:ext cx="4114800" cy="1057423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F0CE4358-F218-4792-A6C1-A194D9933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32" y="4876800"/>
            <a:ext cx="853631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 batting first recorded a higher win percentage than teams bowling first.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Scoreboard pressure and pitch deterioration may contribute to this trend.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suggests batting first can provide a tactical advantage in T20</a:t>
            </a:r>
          </a:p>
        </p:txBody>
      </p:sp>
    </p:spTree>
    <p:extLst>
      <p:ext uri="{BB962C8B-B14F-4D97-AF65-F5344CB8AC3E}">
        <p14:creationId xmlns:p14="http://schemas.microsoft.com/office/powerpoint/2010/main" val="89784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402E-9E67-40C9-A91D-AF23855ED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5867400" cy="1066800"/>
          </a:xfrm>
        </p:spPr>
        <p:txBody>
          <a:bodyPr/>
          <a:lstStyle/>
          <a:p>
            <a:r>
              <a:rPr lang="en-US" b="1" u="sng" dirty="0"/>
              <a:t>Stage performance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1F394D-9425-43C0-8018-F88D9D666C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159" y="2137662"/>
            <a:ext cx="4336023" cy="181950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DB100C-2AD1-4719-A603-DA86E51AA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012" y="609600"/>
            <a:ext cx="2886478" cy="5468113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A14AC83B-00D9-4524-99E3-879A1611B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2" y="3962400"/>
            <a:ext cx="848501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teams dominated group stages but underperformed in knockout matches.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 teams maintained consistency under high-pressure situations.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 showed different performance levels across tournament stages. </a:t>
            </a:r>
          </a:p>
        </p:txBody>
      </p:sp>
    </p:spTree>
    <p:extLst>
      <p:ext uri="{BB962C8B-B14F-4D97-AF65-F5344CB8AC3E}">
        <p14:creationId xmlns:p14="http://schemas.microsoft.com/office/powerpoint/2010/main" val="72964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152B5-7D4E-432A-AB94-5350BF538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Teams Winning Most Under Pressure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E4B1EC6D-3DE9-4689-BD12-C2E73D494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5212" y="1905000"/>
            <a:ext cx="4029637" cy="2162477"/>
          </a:xfr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D2FCCBA-2440-411A-AD4B-EBBEDA0A7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612" y="2362200"/>
            <a:ext cx="3000741" cy="1371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6660620-A902-4247-ABD2-684C2D3FACB2}"/>
              </a:ext>
            </a:extLst>
          </p:cNvPr>
          <p:cNvSpPr txBox="1"/>
          <p:nvPr/>
        </p:nvSpPr>
        <p:spPr>
          <a:xfrm>
            <a:off x="1361049" y="4539751"/>
            <a:ext cx="7467600" cy="646331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Performance in knockout matches revealed a team’s ability to handle pressure, which proved more critical than group-stage dominance alone.</a:t>
            </a:r>
          </a:p>
        </p:txBody>
      </p:sp>
    </p:spTree>
    <p:extLst>
      <p:ext uri="{BB962C8B-B14F-4D97-AF65-F5344CB8AC3E}">
        <p14:creationId xmlns:p14="http://schemas.microsoft.com/office/powerpoint/2010/main" val="338293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8D32-0E09-4DE5-8E87-7030ABF6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258" y="609600"/>
            <a:ext cx="9479156" cy="1066800"/>
          </a:xfrm>
        </p:spPr>
        <p:txBody>
          <a:bodyPr/>
          <a:lstStyle/>
          <a:p>
            <a:r>
              <a:rPr lang="en-US" b="1" u="sng" dirty="0"/>
              <a:t>High Net Run Rate and Qualified teams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77E85E-8B9E-406B-A89B-9D6B03BE1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8162" y="2084488"/>
            <a:ext cx="4145650" cy="142071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F53BE9-F934-4059-B783-80CD8D3ED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12" y="3828124"/>
            <a:ext cx="2819400" cy="21061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DF877C-234F-42C2-A31B-0FDC9B489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212" y="2120347"/>
            <a:ext cx="3810000" cy="1447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152C48-6009-489B-9920-3F638A8D7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412" y="4030023"/>
            <a:ext cx="38100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7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1FF64-F594-4FF5-BA8A-7FF0D7BF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541" y="531550"/>
            <a:ext cx="9143538" cy="685800"/>
          </a:xfrm>
        </p:spPr>
        <p:txBody>
          <a:bodyPr/>
          <a:lstStyle/>
          <a:p>
            <a:r>
              <a:rPr lang="en-US" b="1" u="sng" dirty="0"/>
              <a:t>Most </a:t>
            </a:r>
            <a:r>
              <a:rPr lang="en-US" b="1" u="sng" dirty="0" err="1"/>
              <a:t>Concistent</a:t>
            </a:r>
            <a:r>
              <a:rPr lang="en-US" b="1" u="sng" dirty="0"/>
              <a:t> Teams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19E6EA-3BFD-464B-8105-B4DCF797E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7612" y="1531121"/>
            <a:ext cx="4572000" cy="193384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0C5800-7708-4A5A-8C4B-B4AB14C57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12" y="1459403"/>
            <a:ext cx="4495800" cy="20862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2F8A86-BD13-43B9-819A-CB0DA83CB73B}"/>
              </a:ext>
            </a:extLst>
          </p:cNvPr>
          <p:cNvSpPr txBox="1"/>
          <p:nvPr/>
        </p:nvSpPr>
        <p:spPr>
          <a:xfrm>
            <a:off x="754804" y="3778737"/>
            <a:ext cx="6629400" cy="1477328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Team Consistency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Teams with consistent wins achieved higher tournament rankings.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Lower loss counts contributed significantly to qualification chances.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Consistency across matches was a key factor in overall tournament success.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228456-6F88-4D62-82A9-E35449E13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612" y="3657600"/>
            <a:ext cx="3868228" cy="243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9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7C7E5-D8C5-4C6F-B781-D2AA5A9C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12" y="381000"/>
            <a:ext cx="9143538" cy="762000"/>
          </a:xfrm>
        </p:spPr>
        <p:txBody>
          <a:bodyPr/>
          <a:lstStyle/>
          <a:p>
            <a:r>
              <a:rPr lang="en-US" b="1" u="sng" dirty="0"/>
              <a:t>Top 5 Most </a:t>
            </a:r>
            <a:r>
              <a:rPr lang="en-US" b="1" u="sng" dirty="0" err="1"/>
              <a:t>compitative</a:t>
            </a:r>
            <a:r>
              <a:rPr lang="en-US" b="1" u="sng" dirty="0"/>
              <a:t> Teams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64E38F-FD56-453B-AF6B-229B2E382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212" y="1134035"/>
            <a:ext cx="4343400" cy="168616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1EBD74-6729-4871-A0F4-6906F820D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212" y="2834765"/>
            <a:ext cx="3962400" cy="16004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ABABEF-3179-4E4B-B812-7EEA4A3A2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800" y="1048276"/>
            <a:ext cx="4572638" cy="34485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1F76DE-1B34-4D4B-9695-23506B4DE7DD}"/>
              </a:ext>
            </a:extLst>
          </p:cNvPr>
          <p:cNvSpPr txBox="1"/>
          <p:nvPr/>
        </p:nvSpPr>
        <p:spPr>
          <a:xfrm>
            <a:off x="1444624" y="4572000"/>
            <a:ext cx="8764588" cy="120032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Competitive Team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Many teams showed closely balanced win-loss records.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Consistency in crucial matches played an important role in qualification outcomes.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 performance differences significantly affected tournament rankings. </a:t>
            </a:r>
          </a:p>
        </p:txBody>
      </p:sp>
    </p:spTree>
    <p:extLst>
      <p:ext uri="{BB962C8B-B14F-4D97-AF65-F5344CB8AC3E}">
        <p14:creationId xmlns:p14="http://schemas.microsoft.com/office/powerpoint/2010/main" val="3962013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F0328-B5CC-4CCC-B54E-B3920843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606" y="609600"/>
            <a:ext cx="6153806" cy="838200"/>
          </a:xfrm>
        </p:spPr>
        <p:txBody>
          <a:bodyPr/>
          <a:lstStyle/>
          <a:p>
            <a:r>
              <a:rPr lang="en-US" b="1" u="sng" dirty="0"/>
              <a:t>Venue Success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B28130-8E34-4938-BE11-623FE2DDE6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9106" y="1771817"/>
            <a:ext cx="4114800" cy="162900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EBDA4C-1B5A-4E44-BEBA-261127E83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71" y="3657600"/>
            <a:ext cx="4343400" cy="24006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A42216-B164-454E-99CA-161C2BB7C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2" y="1524000"/>
            <a:ext cx="4991797" cy="28769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2FB56D-07ED-458D-B88A-D5C191268D5C}"/>
              </a:ext>
            </a:extLst>
          </p:cNvPr>
          <p:cNvSpPr txBox="1"/>
          <p:nvPr/>
        </p:nvSpPr>
        <p:spPr>
          <a:xfrm>
            <a:off x="5942012" y="5010834"/>
            <a:ext cx="6096000" cy="646331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Venue conditions influenced match outcomes, making adaptability an important factor in tournament performance</a:t>
            </a:r>
          </a:p>
        </p:txBody>
      </p:sp>
    </p:spTree>
    <p:extLst>
      <p:ext uri="{BB962C8B-B14F-4D97-AF65-F5344CB8AC3E}">
        <p14:creationId xmlns:p14="http://schemas.microsoft.com/office/powerpoint/2010/main" val="31670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9F1C5-1198-43CD-AB08-8CBD07E90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457201"/>
            <a:ext cx="9525002" cy="3200400"/>
          </a:xfrm>
        </p:spPr>
        <p:txBody>
          <a:bodyPr/>
          <a:lstStyle/>
          <a:p>
            <a:r>
              <a:rPr lang="en-US" b="1" u="sng" dirty="0"/>
              <a:t>Conclusion:-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Team consistency and strategic decisions strongly influenced tournament outcomes.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Toss decisions, venue conditions, and Net Run Rate impacted qualification chances.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SQL analysis helped uncover meaningful insights from tournament data. </a:t>
            </a:r>
          </a:p>
          <a:p>
            <a:pPr marL="0" indent="0">
              <a:buNone/>
            </a:pPr>
            <a:endParaRPr lang="en-US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D0133-1F4F-432E-A356-37804556AC66}"/>
              </a:ext>
            </a:extLst>
          </p:cNvPr>
          <p:cNvSpPr txBox="1"/>
          <p:nvPr/>
        </p:nvSpPr>
        <p:spPr>
          <a:xfrm>
            <a:off x="1370012" y="3733800"/>
            <a:ext cx="9144000" cy="830997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This project demonstrates how data analysis can transform raw match statistics into meaningful strategic insights</a:t>
            </a:r>
            <a:r>
              <a:rPr lang="en-US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771014-090D-4FC5-8FCD-455E9560298A}"/>
              </a:ext>
            </a:extLst>
          </p:cNvPr>
          <p:cNvSpPr/>
          <p:nvPr/>
        </p:nvSpPr>
        <p:spPr>
          <a:xfrm>
            <a:off x="8761412" y="5029200"/>
            <a:ext cx="2895600" cy="7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--THANK YOU</a:t>
            </a:r>
          </a:p>
        </p:txBody>
      </p:sp>
    </p:spTree>
    <p:extLst>
      <p:ext uri="{BB962C8B-B14F-4D97-AF65-F5344CB8AC3E}">
        <p14:creationId xmlns:p14="http://schemas.microsoft.com/office/powerpoint/2010/main" val="256901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oject planning overview presentatio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98000"/>
              </a:schemeClr>
            </a:duotone>
          </a:blip>
          <a:tile tx="0" ty="0" sx="100000" sy="100000" flip="none" algn="ctr"/>
        </a:blipFill>
      </a:bgFillStyleLst>
    </a:fmtScheme>
  </a:themeElements>
  <a:objectDefaults>
    <a:spDef>
      <a:spPr>
        <a:solidFill>
          <a:schemeClr val="accent1">
            <a:lumMod val="50000"/>
          </a:schemeClr>
        </a:solidFill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accent1">
              <a:lumMod val="20000"/>
              <a:lumOff val="80000"/>
            </a:schemeClr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siness project planning overview presentation.potx" id="{0D6D6775-FC9F-484B-A889-C0FCD86449E3}" vid="{CBE6795F-D548-4056-89FC-5BC618C494F3}"/>
    </a:ext>
  </a:extLst>
</a:theme>
</file>

<file path=ppt/theme/theme2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planning overview presentation</Template>
  <TotalTime>486</TotalTime>
  <Words>510</Words>
  <Application>Microsoft Office PowerPoint</Application>
  <PresentationFormat>Custom</PresentationFormat>
  <Paragraphs>73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Project planning overview presentation</vt:lpstr>
      <vt:lpstr>Performance Analysis and Match Insights: T20 World Cup 2026</vt:lpstr>
      <vt:lpstr>Project Goals</vt:lpstr>
      <vt:lpstr>Description</vt:lpstr>
      <vt:lpstr>Technology</vt:lpstr>
      <vt:lpstr>Data Cleaning &amp; Preparation</vt:lpstr>
      <vt:lpstr>Total Participating   Teams in World cup:-</vt:lpstr>
      <vt:lpstr>Most Successful Team</vt:lpstr>
      <vt:lpstr>Venue located country and capacity</vt:lpstr>
      <vt:lpstr>Bat First VS Chase First,  wins</vt:lpstr>
      <vt:lpstr>Stage performance analysis</vt:lpstr>
      <vt:lpstr>Teams Winning Most Under Pressure</vt:lpstr>
      <vt:lpstr>High Net Run Rate and Qualified teams</vt:lpstr>
      <vt:lpstr>Most Concistent Teams </vt:lpstr>
      <vt:lpstr>Top 5 Most compitative Teams</vt:lpstr>
      <vt:lpstr>Venue Success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</dc:title>
  <dc:creator>naveen pothineni</dc:creator>
  <cp:lastModifiedBy>naveen pothineni</cp:lastModifiedBy>
  <cp:revision>30</cp:revision>
  <dcterms:created xsi:type="dcterms:W3CDTF">2026-03-18T11:07:03Z</dcterms:created>
  <dcterms:modified xsi:type="dcterms:W3CDTF">2026-05-18T10:40:56Z</dcterms:modified>
</cp:coreProperties>
</file>